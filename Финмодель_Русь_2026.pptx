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Молоко</c:v>
                  </c:pt>
                  <c:pt idx="1">
                    <c:v>Мясо</c:v>
                  </c:pt>
                  <c:pt idx="2">
                    <c:v>Субсидии</c:v>
                  </c:pt>
                  <c:pt idx="3">
                    <c:v>Прочее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1304.38</c:v>
                </c:pt>
                <c:pt idx="1">
                  <c:v>264.59</c:v>
                </c:pt>
                <c:pt idx="2">
                  <c:v>105</c:v>
                </c:pt>
                <c:pt idx="3">
                  <c:v>28.18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Затраты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Молоко</c:v>
                  </c:pt>
                  <c:pt idx="1">
                    <c:v>Мясо</c:v>
                  </c:pt>
                  <c:pt idx="2">
                    <c:v>Прочее+ОХР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1449.81</c:v>
                </c:pt>
                <c:pt idx="1">
                  <c:v>348.63</c:v>
                </c:pt>
                <c:pt idx="2">
                  <c:v>92.37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Объём по месяцам, млн кг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Объём, млн кг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2.907</c:v>
                </c:pt>
                <c:pt idx="1">
                  <c:v>2.668</c:v>
                </c:pt>
                <c:pt idx="2">
                  <c:v>2.987</c:v>
                </c:pt>
                <c:pt idx="3">
                  <c:v>2.904</c:v>
                </c:pt>
                <c:pt idx="4">
                  <c:v>3.218</c:v>
                </c:pt>
                <c:pt idx="5">
                  <c:v>2.892</c:v>
                </c:pt>
                <c:pt idx="6">
                  <c:v>2.988</c:v>
                </c:pt>
                <c:pt idx="7">
                  <c:v>2.988</c:v>
                </c:pt>
                <c:pt idx="8">
                  <c:v>2.892</c:v>
                </c:pt>
                <c:pt idx="9">
                  <c:v>2.988</c:v>
                </c:pt>
                <c:pt idx="10">
                  <c:v>2.892</c:v>
                </c:pt>
                <c:pt idx="11">
                  <c:v>2.988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Цена ₽/кг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Цена молока, ₽/кг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039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41.5</c:v>
                </c:pt>
                <c:pt idx="1">
                  <c:v>39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36</c:v>
                </c:pt>
                <c:pt idx="6">
                  <c:v>36</c:v>
                </c:pt>
                <c:pt idx="7">
                  <c:v>36</c:v>
                </c:pt>
                <c:pt idx="8">
                  <c:v>36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039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5E78B0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bubble3D val="0"/>
            <c:spPr>
              <a:solidFill>
                <a:srgbClr val="90A4C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Молоко</c:v>
                </c:pt>
                <c:pt idx="1">
                  <c:v>Мясо и скот</c:v>
                </c:pt>
                <c:pt idx="2">
                  <c:v>Субсидии</c:v>
                </c:pt>
                <c:pt idx="3">
                  <c:v>Прочее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1304.38</c:v>
                </c:pt>
                <c:pt idx="1">
                  <c:v>264.59</c:v>
                </c:pt>
                <c:pt idx="2">
                  <c:v>105</c:v>
                </c:pt>
                <c:pt idx="3">
                  <c:v>28.18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Структура затрат, млн 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Затраты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78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C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Молоко</c:v>
                  </c:pt>
                  <c:pt idx="1">
                    <c:v>Мясо и скот</c:v>
                  </c:pt>
                  <c:pt idx="2">
                    <c:v>Прочее + ОХР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1449.81</c:v>
                </c:pt>
                <c:pt idx="1">
                  <c:v>348.63</c:v>
                </c:pt>
                <c:pt idx="2">
                  <c:v>92.37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Результат производства, млн ₽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 производства, млн ₽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636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Факт 2025</c:v>
                  </c:pt>
                  <c:pt idx="1">
                    <c:v>План 2026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214.3</c:v>
                </c:pt>
                <c:pt idx="1">
                  <c:v>-188.66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3636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МОДЕЛЬ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«РУСЬ» 2026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365760" y="2971800"/>
            <a:ext cx="411480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финансовых результатов на 2026 год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4480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Июнь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ПОКАЗАТЕЛИ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" y="777240"/>
            <a:ext cx="2148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" y="777240"/>
            <a:ext cx="214884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" y="914400"/>
            <a:ext cx="1929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1 702,2 млн 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95144" y="777240"/>
            <a:ext cx="2148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95144" y="777240"/>
            <a:ext cx="2148840" cy="9144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1" name="Text 9"/>
          <p:cNvSpPr/>
          <p:nvPr/>
        </p:nvSpPr>
        <p:spPr>
          <a:xfrm>
            <a:off x="2404872" y="914400"/>
            <a:ext cx="1929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86584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1 890,8 млн 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386584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777240"/>
            <a:ext cx="2148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8848" y="777240"/>
            <a:ext cx="21488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608576" y="914400"/>
            <a:ext cx="1929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ПРОИЗВОДСТВА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90288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-188,7 млн ₽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0288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убыток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02552" y="777240"/>
            <a:ext cx="2148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2552" y="777240"/>
            <a:ext cx="2148840" cy="91440"/>
          </a:xfrm>
          <a:prstGeom prst="rect">
            <a:avLst/>
          </a:prstGeom>
          <a:solidFill>
            <a:srgbClr val="7B6FAB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914400"/>
            <a:ext cx="1929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ФАКТ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93992" y="123444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B6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214,3 млн ₽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93992" y="18745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-403,0 млн 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1440" y="2377440"/>
            <a:ext cx="2148840" cy="1005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201168" y="246888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МОЛОКО, ОБЪЁМ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" y="27614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35,3 млн кг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2295144" y="2377440"/>
            <a:ext cx="2148840" cy="1005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2404872" y="246888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МОЛОКА (СР.)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86584" y="27614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36,9 ₽/кг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498848" y="2377440"/>
            <a:ext cx="2148840" cy="1005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4608576" y="246888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 МОЛОКА 2026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90288" y="27614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41,1 ₽/кг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6702552" y="2377440"/>
            <a:ext cx="2148840" cy="1005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2468880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НА КГ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793992" y="276148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-4.12 ₽/кг</a:t>
            </a:r>
            <a:endParaRPr lang="en-US" sz="19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91440" y="3493008"/>
          <a:ext cx="89611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МОЛОКО — ПЛАН 2026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73152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577840" y="731520"/>
          <a:ext cx="3474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291840"/>
          <a:ext cx="8778240" cy="178308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2560320"/>
                <a:gridCol w="2560320"/>
              </a:tblGrid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Месяц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Объём, 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₽/кг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 млн 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Янв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Фев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Апр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Июн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Июл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3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35312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1 304,4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ВЫРУЧКИ 2026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731520"/>
          <a:ext cx="47548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120640" y="777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ВЫРУЧКА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120640" y="1005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1 702,2 млн ₽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120640" y="1828800"/>
            <a:ext cx="109728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321808" y="18745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МОЛОКО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21808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1 304,4 млн ₽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0640" y="2578608"/>
            <a:ext cx="109728" cy="594360"/>
          </a:xfrm>
          <a:prstGeom prst="rect">
            <a:avLst/>
          </a:prstGeom>
          <a:solidFill>
            <a:srgbClr val="5E78B0"/>
          </a:solidFill>
          <a:ln/>
        </p:spPr>
      </p:sp>
      <p:sp>
        <p:nvSpPr>
          <p:cNvPr id="12" name="Text 9"/>
          <p:cNvSpPr/>
          <p:nvPr/>
        </p:nvSpPr>
        <p:spPr>
          <a:xfrm>
            <a:off x="5321808" y="2624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МЯСО И СКОТ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21808" y="28529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264,6 млн ₽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0" y="28072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E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20640" y="3328416"/>
            <a:ext cx="109728" cy="5943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/>
          <p:nvPr/>
        </p:nvSpPr>
        <p:spPr>
          <a:xfrm>
            <a:off x="5321808" y="33741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СУБСИДИИ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21808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105,0 млн ₽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0" y="35570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120640" y="4078224"/>
            <a:ext cx="109728" cy="594360"/>
          </a:xfrm>
          <a:prstGeom prst="rect">
            <a:avLst/>
          </a:prstGeom>
          <a:solidFill>
            <a:srgbClr val="90A4C8"/>
          </a:solidFill>
          <a:ln/>
        </p:spPr>
      </p:sp>
      <p:sp>
        <p:nvSpPr>
          <p:cNvPr id="20" name="Text 17"/>
          <p:cNvSpPr/>
          <p:nvPr/>
        </p:nvSpPr>
        <p:spPr>
          <a:xfrm>
            <a:off x="5321808" y="412394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ПРОЧЕЕ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21808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28,2 млн ₽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72400" y="43068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ЗАТРАТ 2026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73152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ЗАТРАТ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303520" y="1005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1 890,8 млн ₽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303520" y="1874520"/>
            <a:ext cx="109728" cy="7498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5504688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МОЛОКО (СС)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504688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1 449,8 млн ₽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0" y="2103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504688" y="24048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35.31 млн кг × 41.06 ₽/кг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303520" y="2770632"/>
            <a:ext cx="109728" cy="749808"/>
          </a:xfrm>
          <a:prstGeom prst="rect">
            <a:avLst/>
          </a:prstGeom>
          <a:solidFill>
            <a:srgbClr val="5E78B0"/>
          </a:solidFill>
          <a:ln/>
        </p:spPr>
      </p:sp>
      <p:sp>
        <p:nvSpPr>
          <p:cNvPr id="13" name="Text 10"/>
          <p:cNvSpPr/>
          <p:nvPr/>
        </p:nvSpPr>
        <p:spPr>
          <a:xfrm>
            <a:off x="5504688" y="2816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МЯСО И СКОТ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04688" y="3044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348,6 млн ₽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80960" y="299923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E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504688" y="330098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категорий × коэфф. 1.065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303520" y="3666744"/>
            <a:ext cx="109728" cy="749808"/>
          </a:xfrm>
          <a:prstGeom prst="rect">
            <a:avLst/>
          </a:prstGeom>
          <a:solidFill>
            <a:srgbClr val="90A4C8"/>
          </a:solidFill>
          <a:ln/>
        </p:spPr>
      </p:sp>
      <p:sp>
        <p:nvSpPr>
          <p:cNvPr id="18" name="Text 15"/>
          <p:cNvSpPr/>
          <p:nvPr/>
        </p:nvSpPr>
        <p:spPr>
          <a:xfrm>
            <a:off x="5504688" y="37124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ПРОЧЕЕ + ОХР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04688" y="3941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92,4 млн ₽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0" y="38953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04688" y="41970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× 1.065 + ОХР × 1.065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303520" y="4572000"/>
            <a:ext cx="356616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0"/>
          <p:cNvSpPr/>
          <p:nvPr/>
        </p:nvSpPr>
        <p:spPr>
          <a:xfrm>
            <a:off x="544068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 молока: 38.55 × 1.065 = 41.06 ₽/кг   |   коэфф. инфляции: 1.065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ИНВЕСТИЦИОННАЯ СОСТАВЛЯЮЩАЯ 2026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73152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31520"/>
            <a:ext cx="28346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412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ОСНОВНЫЕ СРЕДСТВА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207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-139,0 млн ₽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2651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Лизинг без НДС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Плановая закупка ОС с НДС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Плановая закупка без НДС (÷ 1.22)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Амортизация ОС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 (лизинг + закупка − аморт.)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-139,0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127248" y="73152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27248" y="731520"/>
            <a:ext cx="28346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218688" y="8412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МОЛОДНЯК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18688" y="1207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+62,0 млн ₽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218688" y="1664208"/>
            <a:ext cx="2651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18688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Затраты на содержание молодняка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Списание в текущем периоде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 (затраты − списание)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+62,0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6117336" y="731520"/>
            <a:ext cx="2834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17336" y="731520"/>
            <a:ext cx="28346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6208776" y="8412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КРЕДИТ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208776" y="12070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+88,6 млн ₽</a:t>
            </a:r>
            <a:endParaRPr lang="en-US" sz="1900" dirty="0"/>
          </a:p>
        </p:txBody>
      </p:sp>
      <p:sp>
        <p:nvSpPr>
          <p:cNvPr id="20" name="Shape 16"/>
          <p:cNvSpPr/>
          <p:nvPr/>
        </p:nvSpPr>
        <p:spPr>
          <a:xfrm>
            <a:off x="6208776" y="1664208"/>
            <a:ext cx="2651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8776" y="1737360"/>
          <a:ext cx="2651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Кредитная составляющая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88,6 млн 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137160" y="4572000"/>
            <a:ext cx="8869680" cy="502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1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 ИНВЕСТИЦИЙ (сверх амортизации): 11,6 млн ₽    =    -139,0 + 62,0 + 88,6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СРАВНЕНИЕ 2025 vs 2026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82880" y="7315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777240"/>
          <a:ext cx="3337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58368"/>
                <a:gridCol w="667512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факт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план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 молока, млн кг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35,31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Цена молока, ₽/кг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36,94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СС молока, ₽/кг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 молоко, млн 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1 582,9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1 304,4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Выручка мясо, млн 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Субсидии, млн 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выручка, млн 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1 977,3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1 702,2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 затраты, млн 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1 763,0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1 890,8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производства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+214,3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-188,7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Инвестиции (сверх аморт.)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 после инвестиций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-200,3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182880" y="4023360"/>
            <a:ext cx="530352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3"/>
          <p:cNvSpPr/>
          <p:nvPr/>
        </p:nvSpPr>
        <p:spPr>
          <a:xfrm>
            <a:off x="274320" y="40233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результата vs 2025: -403,0 млн ₽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82880" y="4773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факторы снижения: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Падение цены молока с 44.52 до 36.94 ₽/кг (−7.58 ₽/кг)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себестоимости молока с 38.55 до 41.06 ₽/кг (+1.065)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Снижение субсидий с 125 до 105 млн ₽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Рост затрат на мясо: +23,2 млн ₽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ВЫВОДЫ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2344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Прогнозная выручка 2026 — 1 702 млн ₽ при объёме молока 35,31 млн кг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цена молока снижается до 36,94 ₽/кг против 44,52 ₽/кг в 2025 году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 молока растёт до 41,06 ₽/кг (коэфф. инфляции 1,065)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на 1 кг молока — отрицательная: −4,12 ₽/кг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производства: −188,7 млн ₽ (vs +214,3 млн ₽ в 2025 г.)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Инвестиции сверх амортизации: +11,6 млн ₽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результат после инвестиций: −200,3 млн ₽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Финансовая модель «Русь» 2026</dc:title>
  <dc:subject>PptxGenJS Presentation</dc:subject>
  <dc:creator>Русь</dc:creator>
  <cp:lastModifiedBy>Русь</cp:lastModifiedBy>
  <cp:revision>1</cp:revision>
  <dcterms:created xsi:type="dcterms:W3CDTF">2026-06-19T08:59:54Z</dcterms:created>
  <dcterms:modified xsi:type="dcterms:W3CDTF">2026-06-19T08:59:54Z</dcterms:modified>
</cp:coreProperties>
</file>